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333F"/>
    <a:srgbClr val="07B45D"/>
    <a:srgbClr val="0372F8"/>
    <a:srgbClr val="282C34"/>
    <a:srgbClr val="27272A"/>
    <a:srgbClr val="282C33"/>
    <a:srgbClr val="1F23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93"/>
    <p:restoredTop sz="94668"/>
  </p:normalViewPr>
  <p:slideViewPr>
    <p:cSldViewPr snapToGrid="0">
      <p:cViewPr>
        <p:scale>
          <a:sx n="184" d="100"/>
          <a:sy n="184" d="100"/>
        </p:scale>
        <p:origin x="7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46AB5-166F-CA4B-8B72-6EEC03B197C6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214B7-A713-9843-AC96-2E536BE1E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74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214B7-A713-9843-AC96-2E536BE1E6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58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7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8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0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5E4081B-3991-97F9-2C6F-27FC7D33A4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41086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vert="horz"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78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5CB90B1-0E8D-4B7D-BD52-A15DB61DBBD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88173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04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5B37AF5-25F0-7F50-6755-3F6C1A76ED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16038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6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0829E9D-920E-C25E-6DA7-F59F90E58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240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09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D543BE-95B9-15FE-AD7A-A4D912D60B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305995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18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B99E2E6-0149-CAE3-82A0-EE3C9D1838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615428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5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2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9ABA9A3-6E0A-B8B3-2C07-2348E2B21C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073156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9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B1FF61A-8ADD-C5E2-7E32-D10CD10328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2575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7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7F5D48-DF69-55BF-4352-C224636ACB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341115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8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E878B9-2E45-C7DB-9163-89304D7017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43931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9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E7E007A-A3CA-754F-93DD-BA03F5F10BBA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7E6D247-D618-6643-AA00-EAC86D8755D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F955F12-A6FC-52C4-20FF-888C28539A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63038974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1C9930-AA5A-B41E-25DC-6136408E26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EDBA019-4F62-63F8-D022-4B9D874EA84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3603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91767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5" Type="http://schemas.openxmlformats.org/officeDocument/2006/relationships/image" Target="../media/image17.png"/><Relationship Id="rId4" Type="http://schemas.openxmlformats.org/officeDocument/2006/relationships/image" Target="../media/image1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5" Type="http://schemas.openxmlformats.org/officeDocument/2006/relationships/image" Target="../media/image18.png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65F8F-7DEA-C9CB-FB4E-A273B8EE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979E840-A4CE-974B-D548-7F41622239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323124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730C89-59E6-2C22-3CED-0F39CEF832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EED9D4E-135A-B70B-1DFB-ED2A50CB0926}"/>
              </a:ext>
            </a:extLst>
          </p:cNvPr>
          <p:cNvSpPr/>
          <p:nvPr/>
        </p:nvSpPr>
        <p:spPr>
          <a:xfrm>
            <a:off x="103310" y="1329309"/>
            <a:ext cx="5954163" cy="4382378"/>
          </a:xfrm>
          <a:prstGeom prst="roundRect">
            <a:avLst>
              <a:gd name="adj" fmla="val 1830"/>
            </a:avLst>
          </a:prstGeom>
          <a:solidFill>
            <a:srgbClr val="282C34"/>
          </a:solidFill>
          <a:ln w="1270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23381BE-02B6-9D88-3D43-906C957053B1}"/>
              </a:ext>
            </a:extLst>
          </p:cNvPr>
          <p:cNvSpPr/>
          <p:nvPr/>
        </p:nvSpPr>
        <p:spPr>
          <a:xfrm>
            <a:off x="6134528" y="1329310"/>
            <a:ext cx="5954163" cy="4382378"/>
          </a:xfrm>
          <a:prstGeom prst="roundRect">
            <a:avLst>
              <a:gd name="adj" fmla="val 1830"/>
            </a:avLst>
          </a:prstGeom>
          <a:solidFill>
            <a:srgbClr val="282C34"/>
          </a:solidFill>
          <a:ln w="1270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166FAB-FFEF-16DD-686E-9CBCD57545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10262" y="3390728"/>
            <a:ext cx="5796383" cy="18799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28B47E-4D25-1495-1A6B-2EE8A326B2D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11354" y="1746562"/>
            <a:ext cx="5812964" cy="1125879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1FE4BEE-F66C-37A9-3347-29C56C94FA6A}"/>
              </a:ext>
            </a:extLst>
          </p:cNvPr>
          <p:cNvSpPr/>
          <p:nvPr/>
        </p:nvSpPr>
        <p:spPr>
          <a:xfrm>
            <a:off x="1265174" y="2965835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22.1%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946490F-F1C6-D51D-4A7F-2C9BAA4B62C8}"/>
              </a:ext>
            </a:extLst>
          </p:cNvPr>
          <p:cNvSpPr/>
          <p:nvPr/>
        </p:nvSpPr>
        <p:spPr>
          <a:xfrm>
            <a:off x="428701" y="2965835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15.1%</a:t>
            </a:r>
            <a:endParaRPr lang="en-US" sz="800" i="1"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16FA4-2C3F-BC80-F350-C73AB4F5D5A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41499" y="1746991"/>
            <a:ext cx="5812962" cy="1125879"/>
          </a:xfrm>
          <a:prstGeom prst="rect">
            <a:avLst/>
          </a:prstGeom>
          <a:solidFill>
            <a:srgbClr val="282C33"/>
          </a:soli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36FB8F-8DC3-FF36-D96A-1E48179939F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4879" y="3408736"/>
            <a:ext cx="5797550" cy="1880286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468706F-DB5D-8D48-F13C-F5CC269A4580}"/>
              </a:ext>
            </a:extLst>
          </p:cNvPr>
          <p:cNvSpPr/>
          <p:nvPr/>
        </p:nvSpPr>
        <p:spPr>
          <a:xfrm>
            <a:off x="3272687" y="2947572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15.9%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BEA0879-719E-175C-2306-66665B82D390}"/>
              </a:ext>
            </a:extLst>
          </p:cNvPr>
          <p:cNvSpPr/>
          <p:nvPr/>
        </p:nvSpPr>
        <p:spPr>
          <a:xfrm>
            <a:off x="2436214" y="2947572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15.1%</a:t>
            </a:r>
            <a:endParaRPr lang="en-US" sz="800" i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514B01B-1CF2-26C6-AE11-633659FF64AF}"/>
              </a:ext>
            </a:extLst>
          </p:cNvPr>
          <p:cNvSpPr/>
          <p:nvPr/>
        </p:nvSpPr>
        <p:spPr>
          <a:xfrm>
            <a:off x="5256222" y="2939130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18.9%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99D958A-B422-C276-ED75-9047ECDD112F}"/>
              </a:ext>
            </a:extLst>
          </p:cNvPr>
          <p:cNvSpPr/>
          <p:nvPr/>
        </p:nvSpPr>
        <p:spPr>
          <a:xfrm>
            <a:off x="4419749" y="2939130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15.1%</a:t>
            </a:r>
            <a:endParaRPr lang="en-US" sz="800" i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B0D1051-655D-2315-DE24-64D8A15CDDE3}"/>
              </a:ext>
            </a:extLst>
          </p:cNvPr>
          <p:cNvSpPr/>
          <p:nvPr/>
        </p:nvSpPr>
        <p:spPr>
          <a:xfrm>
            <a:off x="7341244" y="2939130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57.5%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FB30134-73C8-301B-CC67-A01E9A8AB806}"/>
              </a:ext>
            </a:extLst>
          </p:cNvPr>
          <p:cNvSpPr/>
          <p:nvPr/>
        </p:nvSpPr>
        <p:spPr>
          <a:xfrm>
            <a:off x="6504771" y="2939130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49.5%</a:t>
            </a:r>
            <a:endParaRPr lang="en-US" sz="800" i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C54C64C-4E51-296F-EF94-F77FB656CD1F}"/>
              </a:ext>
            </a:extLst>
          </p:cNvPr>
          <p:cNvSpPr/>
          <p:nvPr/>
        </p:nvSpPr>
        <p:spPr>
          <a:xfrm>
            <a:off x="9348757" y="2920867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51.8%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28004DE-76B6-7FF1-6EE7-836FAD51BE72}"/>
              </a:ext>
            </a:extLst>
          </p:cNvPr>
          <p:cNvSpPr/>
          <p:nvPr/>
        </p:nvSpPr>
        <p:spPr>
          <a:xfrm>
            <a:off x="8512284" y="2920867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48.8%</a:t>
            </a:r>
            <a:endParaRPr lang="en-US" sz="800" i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22E7964-DC3C-92B5-FAE3-63CF30D35362}"/>
              </a:ext>
            </a:extLst>
          </p:cNvPr>
          <p:cNvSpPr/>
          <p:nvPr/>
        </p:nvSpPr>
        <p:spPr>
          <a:xfrm>
            <a:off x="11332292" y="2912425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52.5%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1A3068C-888A-EAA1-A83F-18EAD475639D}"/>
              </a:ext>
            </a:extLst>
          </p:cNvPr>
          <p:cNvSpPr/>
          <p:nvPr/>
        </p:nvSpPr>
        <p:spPr>
          <a:xfrm>
            <a:off x="10495819" y="2912425"/>
            <a:ext cx="512064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>
                <a:solidFill>
                  <a:schemeClr val="tx1">
                    <a:lumMod val="75000"/>
                  </a:schemeClr>
                </a:solidFill>
              </a:rPr>
              <a:t>49.7%</a:t>
            </a:r>
            <a:endParaRPr lang="en-US" sz="800" i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611E74-E7F9-57C4-3BC5-70D4A4964BEB}"/>
              </a:ext>
            </a:extLst>
          </p:cNvPr>
          <p:cNvSpPr txBox="1"/>
          <p:nvPr/>
        </p:nvSpPr>
        <p:spPr>
          <a:xfrm>
            <a:off x="292536" y="1392001"/>
            <a:ext cx="1484702" cy="276999"/>
          </a:xfrm>
          <a:prstGeom prst="rect">
            <a:avLst/>
          </a:prstGeom>
          <a:solidFill>
            <a:srgbClr val="282C33"/>
          </a:solidFill>
        </p:spPr>
        <p:txBody>
          <a:bodyPr wrap="none" rtlCol="0">
            <a:spAutoFit/>
          </a:bodyPr>
          <a:lstStyle/>
          <a:p>
            <a:r>
              <a:rPr lang="en-US" sz="1200" b="1" dirty="0"/>
              <a:t>Before Matching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E9F2BC-741B-315B-170F-7D4CB24DC2CE}"/>
              </a:ext>
            </a:extLst>
          </p:cNvPr>
          <p:cNvSpPr txBox="1"/>
          <p:nvPr/>
        </p:nvSpPr>
        <p:spPr>
          <a:xfrm>
            <a:off x="6303306" y="1399222"/>
            <a:ext cx="1367682" cy="276999"/>
          </a:xfrm>
          <a:prstGeom prst="rect">
            <a:avLst/>
          </a:prstGeom>
          <a:solidFill>
            <a:srgbClr val="282C33"/>
          </a:solidFill>
        </p:spPr>
        <p:txBody>
          <a:bodyPr wrap="none" rtlCol="0">
            <a:spAutoFit/>
          </a:bodyPr>
          <a:lstStyle/>
          <a:p>
            <a:r>
              <a:rPr lang="en-US" sz="1200" b="1" dirty="0"/>
              <a:t>After Matching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D22D5DE-7730-8649-1F0E-EAFDB1A8189A}"/>
              </a:ext>
            </a:extLst>
          </p:cNvPr>
          <p:cNvSpPr/>
          <p:nvPr/>
        </p:nvSpPr>
        <p:spPr>
          <a:xfrm>
            <a:off x="4859429" y="1399222"/>
            <a:ext cx="336251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</a:schemeClr>
                </a:solidFill>
              </a:rPr>
              <a:t> r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DB074F-AF01-2FDB-CBB4-40CCB4AEE2F5}"/>
              </a:ext>
            </a:extLst>
          </p:cNvPr>
          <p:cNvSpPr txBox="1"/>
          <p:nvPr/>
        </p:nvSpPr>
        <p:spPr>
          <a:xfrm>
            <a:off x="5195680" y="1410481"/>
            <a:ext cx="8210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75000"/>
                  </a:schemeClr>
                </a:solidFill>
              </a:rPr>
              <a:t>r = Y / (Y+N)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D274DD-DF87-CABB-6114-327305CA496C}"/>
              </a:ext>
            </a:extLst>
          </p:cNvPr>
          <p:cNvSpPr txBox="1"/>
          <p:nvPr/>
        </p:nvSpPr>
        <p:spPr>
          <a:xfrm>
            <a:off x="188240" y="183228"/>
            <a:ext cx="33954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✅ Add Legend</a:t>
            </a:r>
          </a:p>
          <a:p>
            <a:r>
              <a:rPr lang="en-US" dirty="0"/>
              <a:t>✅ Add total smokers/non</a:t>
            </a:r>
          </a:p>
          <a:p>
            <a:r>
              <a:rPr lang="en-US" dirty="0"/>
              <a:t>Gender Male – Male Female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F2870B4-2AEB-2756-BE16-3BDDAD241A47}"/>
              </a:ext>
            </a:extLst>
          </p:cNvPr>
          <p:cNvSpPr/>
          <p:nvPr/>
        </p:nvSpPr>
        <p:spPr>
          <a:xfrm>
            <a:off x="10871778" y="1399222"/>
            <a:ext cx="336251" cy="237962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</a:schemeClr>
                </a:solidFill>
              </a:rPr>
              <a:t> r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05FFC5-26A7-05C7-CDAF-4BF3CE2D3184}"/>
              </a:ext>
            </a:extLst>
          </p:cNvPr>
          <p:cNvSpPr txBox="1"/>
          <p:nvPr/>
        </p:nvSpPr>
        <p:spPr>
          <a:xfrm>
            <a:off x="11208029" y="1410481"/>
            <a:ext cx="8210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75000"/>
                  </a:schemeClr>
                </a:solidFill>
              </a:rPr>
              <a:t>r = Y / (Y+N)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2538E8-B812-4ECF-A26A-BC1386E2C570}"/>
              </a:ext>
            </a:extLst>
          </p:cNvPr>
          <p:cNvGrpSpPr/>
          <p:nvPr/>
        </p:nvGrpSpPr>
        <p:grpSpPr>
          <a:xfrm>
            <a:off x="5220222" y="5393785"/>
            <a:ext cx="839935" cy="276999"/>
            <a:chOff x="5169620" y="5393785"/>
            <a:chExt cx="839935" cy="27699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1B014D-6C65-B756-68A6-DB46328A6512}"/>
                </a:ext>
              </a:extLst>
            </p:cNvPr>
            <p:cNvSpPr txBox="1"/>
            <p:nvPr/>
          </p:nvSpPr>
          <p:spPr>
            <a:xfrm>
              <a:off x="5183688" y="5393785"/>
              <a:ext cx="8258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i="1" dirty="0">
                  <a:solidFill>
                    <a:schemeClr val="tx1">
                      <a:lumMod val="75000"/>
                    </a:schemeClr>
                  </a:solidFill>
                </a:rPr>
                <a:t>Y : Smokers</a:t>
              </a:r>
            </a:p>
            <a:p>
              <a:r>
                <a:rPr lang="en-US" sz="600" i="1" dirty="0">
                  <a:solidFill>
                    <a:schemeClr val="tx1">
                      <a:lumMod val="75000"/>
                    </a:schemeClr>
                  </a:solidFill>
                </a:rPr>
                <a:t>N : Non-Smokers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700C08A-2FD9-0450-2A35-7B8E39B454E1}"/>
                </a:ext>
              </a:extLst>
            </p:cNvPr>
            <p:cNvSpPr/>
            <p:nvPr/>
          </p:nvSpPr>
          <p:spPr>
            <a:xfrm>
              <a:off x="5169620" y="5446829"/>
              <a:ext cx="72000" cy="72000"/>
            </a:xfrm>
            <a:prstGeom prst="ellipse">
              <a:avLst/>
            </a:prstGeom>
            <a:solidFill>
              <a:srgbClr val="0372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0E28C97-3967-C719-66C5-6DFD3A8A29E9}"/>
                </a:ext>
              </a:extLst>
            </p:cNvPr>
            <p:cNvSpPr/>
            <p:nvPr/>
          </p:nvSpPr>
          <p:spPr>
            <a:xfrm>
              <a:off x="5169620" y="5538721"/>
              <a:ext cx="72000" cy="72000"/>
            </a:xfrm>
            <a:prstGeom prst="ellipse">
              <a:avLst/>
            </a:prstGeom>
            <a:solidFill>
              <a:srgbClr val="07B4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B50731-C836-E5FB-DF89-339708021BA6}"/>
              </a:ext>
            </a:extLst>
          </p:cNvPr>
          <p:cNvGrpSpPr/>
          <p:nvPr/>
        </p:nvGrpSpPr>
        <p:grpSpPr>
          <a:xfrm>
            <a:off x="11247399" y="5393785"/>
            <a:ext cx="839935" cy="276999"/>
            <a:chOff x="5169620" y="5393785"/>
            <a:chExt cx="839935" cy="27699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87E344-368D-501E-8493-FD5D10899991}"/>
                </a:ext>
              </a:extLst>
            </p:cNvPr>
            <p:cNvSpPr txBox="1"/>
            <p:nvPr/>
          </p:nvSpPr>
          <p:spPr>
            <a:xfrm>
              <a:off x="5183688" y="5393785"/>
              <a:ext cx="8258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i="1" dirty="0">
                  <a:solidFill>
                    <a:schemeClr val="tx1">
                      <a:lumMod val="75000"/>
                    </a:schemeClr>
                  </a:solidFill>
                </a:rPr>
                <a:t>Y : Smokers</a:t>
              </a:r>
            </a:p>
            <a:p>
              <a:r>
                <a:rPr lang="en-US" sz="600" i="1" dirty="0">
                  <a:solidFill>
                    <a:schemeClr val="tx1">
                      <a:lumMod val="75000"/>
                    </a:schemeClr>
                  </a:solidFill>
                </a:rPr>
                <a:t>N : Non-Smokers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C3CB5A4-2A39-2B4D-6A7D-9D9A84EC7623}"/>
                </a:ext>
              </a:extLst>
            </p:cNvPr>
            <p:cNvSpPr/>
            <p:nvPr/>
          </p:nvSpPr>
          <p:spPr>
            <a:xfrm>
              <a:off x="5169620" y="5446829"/>
              <a:ext cx="72000" cy="72000"/>
            </a:xfrm>
            <a:prstGeom prst="ellipse">
              <a:avLst/>
            </a:prstGeom>
            <a:solidFill>
              <a:srgbClr val="0372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78CAD8D-8FA7-1DF3-8242-400E1A284D13}"/>
                </a:ext>
              </a:extLst>
            </p:cNvPr>
            <p:cNvSpPr/>
            <p:nvPr/>
          </p:nvSpPr>
          <p:spPr>
            <a:xfrm>
              <a:off x="5169620" y="5538721"/>
              <a:ext cx="72000" cy="72000"/>
            </a:xfrm>
            <a:prstGeom prst="ellipse">
              <a:avLst/>
            </a:prstGeom>
            <a:solidFill>
              <a:srgbClr val="07B4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426F5A7-0835-C9D5-3566-716CB783A0E7}"/>
              </a:ext>
            </a:extLst>
          </p:cNvPr>
          <p:cNvSpPr/>
          <p:nvPr/>
        </p:nvSpPr>
        <p:spPr>
          <a:xfrm>
            <a:off x="1022131" y="5386140"/>
            <a:ext cx="745109" cy="237962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</a:schemeClr>
                </a:solidFill>
              </a:rPr>
              <a:t> 789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1AE937-14D0-A736-DCF8-B285290101C8}"/>
              </a:ext>
            </a:extLst>
          </p:cNvPr>
          <p:cNvSpPr txBox="1"/>
          <p:nvPr/>
        </p:nvSpPr>
        <p:spPr>
          <a:xfrm>
            <a:off x="164879" y="5404264"/>
            <a:ext cx="9060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75000"/>
                  </a:schemeClr>
                </a:solidFill>
              </a:rPr>
              <a:t>Total Smokers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10D0942-F63E-C287-F2E4-BD2697798F23}"/>
              </a:ext>
            </a:extLst>
          </p:cNvPr>
          <p:cNvSpPr/>
          <p:nvPr/>
        </p:nvSpPr>
        <p:spPr>
          <a:xfrm>
            <a:off x="2871531" y="5386140"/>
            <a:ext cx="745109" cy="237962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</a:schemeClr>
                </a:solidFill>
              </a:rPr>
              <a:t>4,321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001F70-900E-A151-736C-1FF2230CEEA3}"/>
              </a:ext>
            </a:extLst>
          </p:cNvPr>
          <p:cNvSpPr txBox="1"/>
          <p:nvPr/>
        </p:nvSpPr>
        <p:spPr>
          <a:xfrm>
            <a:off x="1760916" y="5404264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75000"/>
                  </a:schemeClr>
                </a:solidFill>
              </a:rPr>
              <a:t>Total Non-Smokers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CEE6FDBF-DAB1-7861-CD99-DACB47ABBFC2}"/>
              </a:ext>
            </a:extLst>
          </p:cNvPr>
          <p:cNvSpPr/>
          <p:nvPr/>
        </p:nvSpPr>
        <p:spPr>
          <a:xfrm>
            <a:off x="7067514" y="5386140"/>
            <a:ext cx="745109" cy="237962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</a:schemeClr>
                </a:solidFill>
              </a:rPr>
              <a:t> 789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50EDF8-D39E-BF85-7AB3-F855F1649B57}"/>
              </a:ext>
            </a:extLst>
          </p:cNvPr>
          <p:cNvSpPr txBox="1"/>
          <p:nvPr/>
        </p:nvSpPr>
        <p:spPr>
          <a:xfrm>
            <a:off x="6210262" y="5404264"/>
            <a:ext cx="9060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75000"/>
                  </a:schemeClr>
                </a:solidFill>
              </a:rPr>
              <a:t>Total Smokers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F1E8ACD-0EC8-6F5A-1834-7D06B8537320}"/>
              </a:ext>
            </a:extLst>
          </p:cNvPr>
          <p:cNvSpPr/>
          <p:nvPr/>
        </p:nvSpPr>
        <p:spPr>
          <a:xfrm>
            <a:off x="8916914" y="5386140"/>
            <a:ext cx="745109" cy="237962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800" i="1" dirty="0">
                <a:solidFill>
                  <a:schemeClr val="tx1">
                    <a:lumMod val="75000"/>
                  </a:schemeClr>
                </a:solidFill>
              </a:rPr>
              <a:t>789 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A9DDF8-04CD-B780-8E72-1C40619C351B}"/>
              </a:ext>
            </a:extLst>
          </p:cNvPr>
          <p:cNvSpPr txBox="1"/>
          <p:nvPr/>
        </p:nvSpPr>
        <p:spPr>
          <a:xfrm>
            <a:off x="7806299" y="5404264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75000"/>
                  </a:schemeClr>
                </a:solidFill>
              </a:rPr>
              <a:t>Total Non-Smokers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89A773-C8CD-57A5-62A9-2D27EF1EFF4F}"/>
              </a:ext>
            </a:extLst>
          </p:cNvPr>
          <p:cNvSpPr txBox="1"/>
          <p:nvPr/>
        </p:nvSpPr>
        <p:spPr>
          <a:xfrm>
            <a:off x="3252844" y="1369471"/>
            <a:ext cx="1568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75000"/>
                  </a:schemeClr>
                </a:solidFill>
              </a:rPr>
              <a:t>Y-Axis : Frequency (Total Subs)</a:t>
            </a:r>
          </a:p>
          <a:p>
            <a:r>
              <a:rPr lang="en-US" sz="700" dirty="0">
                <a:solidFill>
                  <a:schemeClr val="tx1">
                    <a:lumMod val="75000"/>
                  </a:schemeClr>
                </a:solidFill>
              </a:rPr>
              <a:t>X-Axis : Values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0C083D-2E9A-66A2-5826-D807447FB05B}"/>
              </a:ext>
            </a:extLst>
          </p:cNvPr>
          <p:cNvSpPr txBox="1"/>
          <p:nvPr/>
        </p:nvSpPr>
        <p:spPr>
          <a:xfrm>
            <a:off x="9255251" y="1369471"/>
            <a:ext cx="1568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75000"/>
                  </a:schemeClr>
                </a:solidFill>
              </a:rPr>
              <a:t>Y-Axis : Frequency (Total Subs)</a:t>
            </a:r>
          </a:p>
          <a:p>
            <a:r>
              <a:rPr lang="en-US" sz="700" dirty="0">
                <a:solidFill>
                  <a:schemeClr val="tx1">
                    <a:lumMod val="75000"/>
                  </a:schemeClr>
                </a:solidFill>
              </a:rPr>
              <a:t>X-Axis : Values</a:t>
            </a:r>
          </a:p>
        </p:txBody>
      </p:sp>
    </p:spTree>
    <p:extLst>
      <p:ext uri="{BB962C8B-B14F-4D97-AF65-F5344CB8AC3E}">
        <p14:creationId xmlns:p14="http://schemas.microsoft.com/office/powerpoint/2010/main" val="341597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D8703-7E92-0642-177C-51F67228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1B230E0-67DC-1BEE-1A54-1D5DF2300A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79E840-A4CE-974B-D548-7F4162223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FCFD60E-3DDD-08FE-678D-4BDFF735D83C}"/>
              </a:ext>
            </a:extLst>
          </p:cNvPr>
          <p:cNvSpPr/>
          <p:nvPr/>
        </p:nvSpPr>
        <p:spPr>
          <a:xfrm>
            <a:off x="179333" y="216031"/>
            <a:ext cx="8029184" cy="4882441"/>
          </a:xfrm>
          <a:prstGeom prst="roundRect">
            <a:avLst>
              <a:gd name="adj" fmla="val 1830"/>
            </a:avLst>
          </a:prstGeom>
          <a:solidFill>
            <a:srgbClr val="282C34"/>
          </a:solidFill>
          <a:ln w="1270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8C60F3-960F-8537-8AAC-404B021E97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7726" y="699145"/>
            <a:ext cx="7772397" cy="392848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70E57FD-AF7A-2929-2A07-0D41A3F32A72}"/>
              </a:ext>
            </a:extLst>
          </p:cNvPr>
          <p:cNvGrpSpPr/>
          <p:nvPr/>
        </p:nvGrpSpPr>
        <p:grpSpPr>
          <a:xfrm>
            <a:off x="7240188" y="325570"/>
            <a:ext cx="839935" cy="276999"/>
            <a:chOff x="5169620" y="5393785"/>
            <a:chExt cx="839935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A5AF03-7852-CA81-43C7-7D4883DED00B}"/>
                </a:ext>
              </a:extLst>
            </p:cNvPr>
            <p:cNvSpPr txBox="1"/>
            <p:nvPr/>
          </p:nvSpPr>
          <p:spPr>
            <a:xfrm>
              <a:off x="5183688" y="5393785"/>
              <a:ext cx="8258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i="1" dirty="0">
                  <a:solidFill>
                    <a:schemeClr val="tx1">
                      <a:lumMod val="75000"/>
                    </a:schemeClr>
                  </a:solidFill>
                </a:rPr>
                <a:t>Y : Smokers</a:t>
              </a:r>
            </a:p>
            <a:p>
              <a:r>
                <a:rPr lang="en-US" sz="600" i="1" dirty="0">
                  <a:solidFill>
                    <a:schemeClr val="tx1">
                      <a:lumMod val="75000"/>
                    </a:schemeClr>
                  </a:solidFill>
                </a:rPr>
                <a:t>N : Non-Smokers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3D67AD3-8DC9-9190-7002-4B42D2C50994}"/>
                </a:ext>
              </a:extLst>
            </p:cNvPr>
            <p:cNvSpPr/>
            <p:nvPr/>
          </p:nvSpPr>
          <p:spPr>
            <a:xfrm>
              <a:off x="5169620" y="5446829"/>
              <a:ext cx="72000" cy="72000"/>
            </a:xfrm>
            <a:prstGeom prst="ellipse">
              <a:avLst/>
            </a:prstGeom>
            <a:solidFill>
              <a:srgbClr val="0372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A80F9-DE26-EFB8-C965-8B994E0D6BA4}"/>
                </a:ext>
              </a:extLst>
            </p:cNvPr>
            <p:cNvSpPr/>
            <p:nvPr/>
          </p:nvSpPr>
          <p:spPr>
            <a:xfrm>
              <a:off x="5169620" y="5538721"/>
              <a:ext cx="72000" cy="72000"/>
            </a:xfrm>
            <a:prstGeom prst="ellipse">
              <a:avLst/>
            </a:prstGeom>
            <a:solidFill>
              <a:srgbClr val="07B4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1E1B133-F2BC-E085-F26E-41E376AEDAB6}"/>
              </a:ext>
            </a:extLst>
          </p:cNvPr>
          <p:cNvSpPr txBox="1"/>
          <p:nvPr/>
        </p:nvSpPr>
        <p:spPr>
          <a:xfrm>
            <a:off x="5945746" y="4692150"/>
            <a:ext cx="22092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75000"/>
                  </a:schemeClr>
                </a:solidFill>
              </a:rPr>
              <a:t>Stroke Rate – B : Stroke Rate before matching</a:t>
            </a:r>
          </a:p>
          <a:p>
            <a:r>
              <a:rPr lang="en-US" sz="700" dirty="0">
                <a:solidFill>
                  <a:schemeClr val="tx1">
                    <a:lumMod val="75000"/>
                  </a:schemeClr>
                </a:solidFill>
              </a:rPr>
              <a:t>Stroke Rate – A : Stroke Rate after matching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3A716E-CC1B-C5AB-D701-ADED75BE9642}"/>
              </a:ext>
            </a:extLst>
          </p:cNvPr>
          <p:cNvSpPr txBox="1"/>
          <p:nvPr/>
        </p:nvSpPr>
        <p:spPr>
          <a:xfrm>
            <a:off x="249382" y="319089"/>
            <a:ext cx="2573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Standardized Mean Difference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0F7B0C-CDEB-91A3-DA79-CBCC828AE3E4}"/>
              </a:ext>
            </a:extLst>
          </p:cNvPr>
          <p:cNvSpPr txBox="1"/>
          <p:nvPr/>
        </p:nvSpPr>
        <p:spPr>
          <a:xfrm>
            <a:off x="249382" y="4627627"/>
            <a:ext cx="12234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75000"/>
                  </a:schemeClr>
                </a:solidFill>
              </a:rPr>
              <a:t>Threshold</a:t>
            </a:r>
          </a:p>
          <a:p>
            <a:r>
              <a:rPr lang="en-US" sz="700" dirty="0">
                <a:solidFill>
                  <a:schemeClr val="tx1">
                    <a:lumMod val="75000"/>
                  </a:schemeClr>
                </a:solidFill>
              </a:rPr>
              <a:t>&lt; 0.1         Good balance</a:t>
            </a:r>
          </a:p>
          <a:p>
            <a:r>
              <a:rPr lang="en-US" sz="700" dirty="0">
                <a:solidFill>
                  <a:schemeClr val="tx1">
                    <a:lumMod val="75000"/>
                  </a:schemeClr>
                </a:solidFill>
              </a:rPr>
              <a:t>0.1 - 0.2   Moderate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7222603-E7C4-DBDC-68B1-F0BE48A61BAB}"/>
              </a:ext>
            </a:extLst>
          </p:cNvPr>
          <p:cNvGrpSpPr/>
          <p:nvPr/>
        </p:nvGrpSpPr>
        <p:grpSpPr>
          <a:xfrm>
            <a:off x="1697181" y="4681487"/>
            <a:ext cx="931105" cy="307777"/>
            <a:chOff x="3816927" y="498769"/>
            <a:chExt cx="931105" cy="30777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EBA0D14-C19C-07BC-6326-8FFEF2245C72}"/>
                </a:ext>
              </a:extLst>
            </p:cNvPr>
            <p:cNvCxnSpPr>
              <a:cxnSpLocks/>
            </p:cNvCxnSpPr>
            <p:nvPr/>
          </p:nvCxnSpPr>
          <p:spPr>
            <a:xfrm>
              <a:off x="3816927" y="699654"/>
              <a:ext cx="360000" cy="0"/>
            </a:xfrm>
            <a:prstGeom prst="line">
              <a:avLst/>
            </a:prstGeom>
            <a:ln>
              <a:solidFill>
                <a:schemeClr val="accent2">
                  <a:alpha val="37000"/>
                </a:schemeClr>
              </a:solidFill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54D41CE-E4B7-D899-4F3D-ED3710454118}"/>
                </a:ext>
              </a:extLst>
            </p:cNvPr>
            <p:cNvCxnSpPr>
              <a:cxnSpLocks/>
            </p:cNvCxnSpPr>
            <p:nvPr/>
          </p:nvCxnSpPr>
          <p:spPr>
            <a:xfrm>
              <a:off x="3816927" y="595885"/>
              <a:ext cx="360000" cy="0"/>
            </a:xfrm>
            <a:prstGeom prst="line">
              <a:avLst/>
            </a:prstGeom>
            <a:ln>
              <a:solidFill>
                <a:srgbClr val="7C333F"/>
              </a:solidFill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EB71EC7-F69E-19D8-7985-7D8514AA7D35}"/>
                </a:ext>
              </a:extLst>
            </p:cNvPr>
            <p:cNvSpPr txBox="1"/>
            <p:nvPr/>
          </p:nvSpPr>
          <p:spPr>
            <a:xfrm>
              <a:off x="4135364" y="498769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tx1">
                      <a:lumMod val="75000"/>
                    </a:schemeClr>
                  </a:solidFill>
                </a:rPr>
                <a:t>Decrease</a:t>
              </a:r>
            </a:p>
            <a:p>
              <a:r>
                <a:rPr lang="en-US" sz="700" dirty="0">
                  <a:solidFill>
                    <a:schemeClr val="tx1">
                      <a:lumMod val="75000"/>
                    </a:schemeClr>
                  </a:solidFill>
                </a:rPr>
                <a:t>Increase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12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1730C89-59E6-2C22-3CED-0F39CEF832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702040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AB0B72A-B24A-03C1-6B28-90BCAA1D3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496" y="1464759"/>
            <a:ext cx="7772400" cy="392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5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Datacamp">
      <a:dk1>
        <a:srgbClr val="000000"/>
      </a:dk1>
      <a:lt1>
        <a:srgbClr val="FFFFFF"/>
      </a:lt1>
      <a:dk2>
        <a:srgbClr val="01172A"/>
      </a:dk2>
      <a:lt2>
        <a:srgbClr val="EDEDED"/>
      </a:lt2>
      <a:accent1>
        <a:srgbClr val="772FFD"/>
      </a:accent1>
      <a:accent2>
        <a:srgbClr val="00EE61"/>
      </a:accent2>
      <a:accent3>
        <a:srgbClr val="FD6FA9"/>
      </a:accent3>
      <a:accent4>
        <a:srgbClr val="01BCFD"/>
      </a:accent4>
      <a:accent5>
        <a:srgbClr val="FCCE0D"/>
      </a:accent5>
      <a:accent6>
        <a:srgbClr val="FE5300"/>
      </a:accent6>
      <a:hlink>
        <a:srgbClr val="0563C1"/>
      </a:hlink>
      <a:folHlink>
        <a:srgbClr val="954F72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1633</TotalTime>
  <Words>149</Words>
  <Application>Microsoft Macintosh PowerPoint</Application>
  <PresentationFormat>Widescreen</PresentationFormat>
  <Paragraphs>48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Poppins</vt:lpstr>
      <vt:lpstr>Office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azka_r_ramadani</dc:creator>
  <cp:lastModifiedBy>azka_r_ramadani</cp:lastModifiedBy>
  <cp:revision>4</cp:revision>
  <dcterms:created xsi:type="dcterms:W3CDTF">2026-01-02T05:54:03Z</dcterms:created>
  <dcterms:modified xsi:type="dcterms:W3CDTF">2026-01-03T13:08:18Z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caaddc-90a0-4995-b524-c269e4395a58_Enabled">
    <vt:lpwstr>true</vt:lpwstr>
  </property>
  <property fmtid="{D5CDD505-2E9C-101B-9397-08002B2CF9AE}" pid="3" name="MSIP_Label_d5caaddc-90a0-4995-b524-c269e4395a58_SetDate">
    <vt:lpwstr>2026-01-02T06:03:31Z</vt:lpwstr>
  </property>
  <property fmtid="{D5CDD505-2E9C-101B-9397-08002B2CF9AE}" pid="4" name="MSIP_Label_d5caaddc-90a0-4995-b524-c269e4395a58_Method">
    <vt:lpwstr>Standard</vt:lpwstr>
  </property>
  <property fmtid="{D5CDD505-2E9C-101B-9397-08002B2CF9AE}" pid="5" name="MSIP_Label_d5caaddc-90a0-4995-b524-c269e4395a58_Name">
    <vt:lpwstr>Internal</vt:lpwstr>
  </property>
  <property fmtid="{D5CDD505-2E9C-101B-9397-08002B2CF9AE}" pid="6" name="MSIP_Label_d5caaddc-90a0-4995-b524-c269e4395a58_SiteId">
    <vt:lpwstr>fc743075-93ed-4a5c-82c0-ca5eac914220</vt:lpwstr>
  </property>
  <property fmtid="{D5CDD505-2E9C-101B-9397-08002B2CF9AE}" pid="7" name="MSIP_Label_d5caaddc-90a0-4995-b524-c269e4395a58_ActionId">
    <vt:lpwstr>1a1f8dc1-eaf4-4b24-b0c3-4a76b6906083</vt:lpwstr>
  </property>
  <property fmtid="{D5CDD505-2E9C-101B-9397-08002B2CF9AE}" pid="8" name="MSIP_Label_d5caaddc-90a0-4995-b524-c269e4395a58_ContentBits">
    <vt:lpwstr>2</vt:lpwstr>
  </property>
  <property fmtid="{D5CDD505-2E9C-101B-9397-08002B2CF9AE}" pid="9" name="MSIP_Label_d5caaddc-90a0-4995-b524-c269e4395a58_Tag">
    <vt:lpwstr>50, 3, 0, 1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Internal</vt:lpwstr>
  </property>
</Properties>
</file>